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08" r:id="rId2"/>
    <p:sldId id="30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4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00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6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68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7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6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3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9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8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38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FB48F-6A8E-41E1-B486-D031BDFF61F3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E830A-C78E-42D1-8508-98DE598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3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4D998C2C-FBD8-4306-8BF4-5A49A41213E9}"/>
              </a:ext>
            </a:extLst>
          </p:cNvPr>
          <p:cNvGrpSpPr/>
          <p:nvPr/>
        </p:nvGrpSpPr>
        <p:grpSpPr>
          <a:xfrm>
            <a:off x="2651760" y="540689"/>
            <a:ext cx="6888480" cy="5841434"/>
            <a:chOff x="2651760" y="540689"/>
            <a:chExt cx="6888480" cy="584143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71D62EB-829E-EE43-9AF8-2E88DA10C770}"/>
                </a:ext>
              </a:extLst>
            </p:cNvPr>
            <p:cNvSpPr/>
            <p:nvPr/>
          </p:nvSpPr>
          <p:spPr>
            <a:xfrm>
              <a:off x="4565015" y="540689"/>
              <a:ext cx="3061970" cy="1764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i="1" dirty="0">
                  <a:solidFill>
                    <a:schemeClr val="tx1"/>
                  </a:solidFill>
                </a:rPr>
                <a:t>Spatiotemporal MS density values from VAST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075CF8-61C6-A24E-AE4E-B76C3E45F4A8}"/>
                </a:ext>
              </a:extLst>
            </p:cNvPr>
            <p:cNvSpPr/>
            <p:nvPr/>
          </p:nvSpPr>
          <p:spPr>
            <a:xfrm>
              <a:off x="4565015" y="700189"/>
              <a:ext cx="3061970" cy="17051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25" i="1" dirty="0" err="1">
                  <a:solidFill>
                    <a:schemeClr val="tx1"/>
                  </a:solidFill>
                </a:rPr>
                <a:t>Optimal_Allocation_GoA_Manuscript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  <a:r>
                <a:rPr lang="en-US" sz="825" i="1" dirty="0" err="1">
                  <a:solidFill>
                    <a:schemeClr val="tx1"/>
                  </a:solidFill>
                </a:rPr>
                <a:t>optimization_data.R</a:t>
              </a:r>
              <a:endParaRPr lang="en-US" sz="825" i="1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EB5BA32-6E66-44FD-B58E-85DE7C74FE72}"/>
                </a:ext>
              </a:extLst>
            </p:cNvPr>
            <p:cNvSpPr/>
            <p:nvPr/>
          </p:nvSpPr>
          <p:spPr>
            <a:xfrm>
              <a:off x="5224463" y="1333864"/>
              <a:ext cx="1743074" cy="170510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25" i="1" dirty="0">
                  <a:solidFill>
                    <a:schemeClr val="tx1"/>
                  </a:solidFill>
                </a:rPr>
                <a:t>model_6g/</a:t>
              </a:r>
              <a:r>
                <a:rPr lang="en-US" sz="825" i="1" dirty="0" err="1">
                  <a:solidFill>
                    <a:schemeClr val="tx1"/>
                  </a:solidFill>
                </a:rPr>
                <a:t>optimization_data.RData</a:t>
              </a:r>
              <a:endParaRPr lang="en-US" sz="825" i="1" dirty="0">
                <a:solidFill>
                  <a:schemeClr val="tx1"/>
                </a:solidFill>
              </a:endParaRP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E6706905-F93C-4C48-A295-5887E1983B8E}"/>
                </a:ext>
              </a:extLst>
            </p:cNvPr>
            <p:cNvCxnSpPr>
              <a:cxnSpLocks/>
              <a:stCxn id="3" idx="2"/>
              <a:endCxn id="70" idx="0"/>
            </p:cNvCxnSpPr>
            <p:nvPr/>
          </p:nvCxnSpPr>
          <p:spPr>
            <a:xfrm>
              <a:off x="6096000" y="870699"/>
              <a:ext cx="0" cy="4631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DD19FA-95DF-453C-8EC4-A97868B5C915}"/>
                </a:ext>
              </a:extLst>
            </p:cNvPr>
            <p:cNvSpPr/>
            <p:nvPr/>
          </p:nvSpPr>
          <p:spPr>
            <a:xfrm>
              <a:off x="4565016" y="1975763"/>
              <a:ext cx="3061970" cy="1764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i="1" dirty="0">
                  <a:solidFill>
                    <a:schemeClr val="tx1"/>
                  </a:solidFill>
                </a:rPr>
                <a:t>Survey Optimization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4A723A7-4057-44E4-ABED-E887DFF90B9F}"/>
                </a:ext>
              </a:extLst>
            </p:cNvPr>
            <p:cNvSpPr/>
            <p:nvPr/>
          </p:nvSpPr>
          <p:spPr>
            <a:xfrm>
              <a:off x="4565016" y="2135263"/>
              <a:ext cx="3061970" cy="17051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25" i="1" dirty="0" err="1">
                  <a:solidFill>
                    <a:schemeClr val="tx1"/>
                  </a:solidFill>
                </a:rPr>
                <a:t>Optimal_Allocation_GoA_Manuscript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  <a:r>
                <a:rPr lang="en-US" sz="825" i="1" dirty="0" err="1">
                  <a:solidFill>
                    <a:schemeClr val="tx1"/>
                  </a:solidFill>
                </a:rPr>
                <a:t>Survey_Optimization.R</a:t>
              </a:r>
              <a:endParaRPr lang="en-US" sz="825" i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D283A4E-E9B2-40F6-8EE4-D19A5BFCDFD6}"/>
                </a:ext>
              </a:extLst>
            </p:cNvPr>
            <p:cNvCxnSpPr>
              <a:cxnSpLocks/>
              <a:stCxn id="70" idx="2"/>
              <a:endCxn id="4" idx="0"/>
            </p:cNvCxnSpPr>
            <p:nvPr/>
          </p:nvCxnSpPr>
          <p:spPr>
            <a:xfrm>
              <a:off x="6096000" y="1504374"/>
              <a:ext cx="1" cy="4713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A6646B-19C5-486D-81AF-22C6EFAAB484}"/>
                </a:ext>
              </a:extLst>
            </p:cNvPr>
            <p:cNvSpPr/>
            <p:nvPr/>
          </p:nvSpPr>
          <p:spPr>
            <a:xfrm>
              <a:off x="4565015" y="3637382"/>
              <a:ext cx="3061970" cy="1764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i="1" dirty="0">
                  <a:solidFill>
                    <a:schemeClr val="tx1"/>
                  </a:solidFill>
                </a:rPr>
                <a:t>Knit Results Together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025F60-C7AE-4D84-9324-20A4FFDAB943}"/>
                </a:ext>
              </a:extLst>
            </p:cNvPr>
            <p:cNvSpPr/>
            <p:nvPr/>
          </p:nvSpPr>
          <p:spPr>
            <a:xfrm>
              <a:off x="4565015" y="3796882"/>
              <a:ext cx="3061970" cy="17051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25" i="1" dirty="0" err="1">
                  <a:solidFill>
                    <a:schemeClr val="tx1"/>
                  </a:solidFill>
                </a:rPr>
                <a:t>Optimal_Allocation_GoA_Manuscript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  <a:r>
                <a:rPr lang="en-US" sz="825" i="1" dirty="0" err="1">
                  <a:solidFill>
                    <a:schemeClr val="tx1"/>
                  </a:solidFill>
                </a:rPr>
                <a:t>knitting_runs.R</a:t>
              </a:r>
              <a:endParaRPr lang="en-US" sz="825" i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D2F24C-F5F9-4F29-AE85-680A92023360}"/>
                </a:ext>
              </a:extLst>
            </p:cNvPr>
            <p:cNvSpPr/>
            <p:nvPr/>
          </p:nvSpPr>
          <p:spPr>
            <a:xfrm>
              <a:off x="2651760" y="2841457"/>
              <a:ext cx="1600200" cy="34674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25" i="1" dirty="0">
                  <a:solidFill>
                    <a:schemeClr val="tx1"/>
                  </a:solidFill>
                </a:rPr>
                <a:t>model_6g/</a:t>
              </a:r>
              <a:r>
                <a:rPr lang="en-US" sz="825" i="1" dirty="0" err="1">
                  <a:solidFill>
                    <a:schemeClr val="tx1"/>
                  </a:solidFill>
                </a:rPr>
                <a:t>Spatial_Optimization_OneCV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  <a:r>
                <a:rPr lang="en-US" sz="825" i="1" dirty="0" err="1">
                  <a:solidFill>
                    <a:schemeClr val="tx1"/>
                  </a:solidFill>
                </a:rPr>
                <a:t>XXStrXXRun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298B55-DE83-4D54-AC95-1FC7E1FBE56F}"/>
                </a:ext>
              </a:extLst>
            </p:cNvPr>
            <p:cNvSpPr/>
            <p:nvPr/>
          </p:nvSpPr>
          <p:spPr>
            <a:xfrm>
              <a:off x="5103244" y="2827493"/>
              <a:ext cx="1985512" cy="34674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25" i="1" dirty="0">
                  <a:solidFill>
                    <a:schemeClr val="tx1"/>
                  </a:solidFill>
                </a:rPr>
                <a:t>model_6g/</a:t>
              </a:r>
              <a:r>
                <a:rPr lang="en-US" sz="825" i="1" dirty="0" err="1">
                  <a:solidFill>
                    <a:schemeClr val="tx1"/>
                  </a:solidFill>
                </a:rPr>
                <a:t>Spatiotemporal_Optimization_OneCV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  <a:r>
                <a:rPr lang="en-US" sz="825" i="1" dirty="0" err="1">
                  <a:solidFill>
                    <a:schemeClr val="tx1"/>
                  </a:solidFill>
                </a:rPr>
                <a:t>XXStrXXRun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A22B020-42A7-4551-ABB3-89F75B3E0C70}"/>
                </a:ext>
              </a:extLst>
            </p:cNvPr>
            <p:cNvSpPr/>
            <p:nvPr/>
          </p:nvSpPr>
          <p:spPr>
            <a:xfrm>
              <a:off x="7554728" y="2813476"/>
              <a:ext cx="1985512" cy="34674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25" i="1" dirty="0">
                  <a:solidFill>
                    <a:schemeClr val="tx1"/>
                  </a:solidFill>
                </a:rPr>
                <a:t>model_6g/</a:t>
              </a:r>
              <a:r>
                <a:rPr lang="en-US" sz="825" i="1" dirty="0" err="1">
                  <a:solidFill>
                    <a:schemeClr val="tx1"/>
                  </a:solidFill>
                </a:rPr>
                <a:t>Spatiotemporal_Optimization_SppSpecificCV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  <a:r>
                <a:rPr lang="en-US" sz="825" i="1" dirty="0" err="1">
                  <a:solidFill>
                    <a:schemeClr val="tx1"/>
                  </a:solidFill>
                </a:rPr>
                <a:t>XXStrXXRun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90E0EAB-D524-4DA4-9294-C358D4D88813}"/>
                </a:ext>
              </a:extLst>
            </p:cNvPr>
            <p:cNvCxnSpPr>
              <a:cxnSpLocks/>
              <a:stCxn id="5" idx="2"/>
              <a:endCxn id="12" idx="0"/>
            </p:cNvCxnSpPr>
            <p:nvPr/>
          </p:nvCxnSpPr>
          <p:spPr>
            <a:xfrm flipH="1">
              <a:off x="3451860" y="2305773"/>
              <a:ext cx="2644141" cy="5356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3599C71-E34A-4653-84C9-FFA0C0A57D69}"/>
                </a:ext>
              </a:extLst>
            </p:cNvPr>
            <p:cNvCxnSpPr>
              <a:cxnSpLocks/>
              <a:stCxn id="5" idx="2"/>
              <a:endCxn id="25" idx="0"/>
            </p:cNvCxnSpPr>
            <p:nvPr/>
          </p:nvCxnSpPr>
          <p:spPr>
            <a:xfrm flipH="1">
              <a:off x="6096000" y="2305773"/>
              <a:ext cx="1" cy="5217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D472EF5-8EEE-4280-B8C1-A25C0697B944}"/>
                </a:ext>
              </a:extLst>
            </p:cNvPr>
            <p:cNvCxnSpPr>
              <a:cxnSpLocks/>
              <a:stCxn id="5" idx="2"/>
              <a:endCxn id="26" idx="0"/>
            </p:cNvCxnSpPr>
            <p:nvPr/>
          </p:nvCxnSpPr>
          <p:spPr>
            <a:xfrm>
              <a:off x="6096001" y="2305773"/>
              <a:ext cx="2451483" cy="5077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9374EC8-F77F-41B0-9072-9DE37999FC72}"/>
                </a:ext>
              </a:extLst>
            </p:cNvPr>
            <p:cNvCxnSpPr>
              <a:cxnSpLocks/>
              <a:stCxn id="25" idx="2"/>
              <a:endCxn id="13" idx="0"/>
            </p:cNvCxnSpPr>
            <p:nvPr/>
          </p:nvCxnSpPr>
          <p:spPr>
            <a:xfrm>
              <a:off x="6096000" y="3174239"/>
              <a:ext cx="0" cy="4631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01EEFE8-76A9-467B-A713-BF4217C43430}"/>
                </a:ext>
              </a:extLst>
            </p:cNvPr>
            <p:cNvSpPr/>
            <p:nvPr/>
          </p:nvSpPr>
          <p:spPr>
            <a:xfrm>
              <a:off x="4932680" y="4430097"/>
              <a:ext cx="2326640" cy="34674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25" i="1" dirty="0">
                  <a:solidFill>
                    <a:schemeClr val="tx1"/>
                  </a:solidFill>
                </a:rPr>
                <a:t>model_6g/</a:t>
              </a:r>
              <a:r>
                <a:rPr lang="en-US" sz="825" i="1" dirty="0" err="1">
                  <a:solidFill>
                    <a:schemeClr val="tx1"/>
                  </a:solidFill>
                </a:rPr>
                <a:t>Spatiotemporal_Optimization_OneCV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  <a:r>
                <a:rPr lang="en-US" sz="825" i="1" dirty="0" err="1">
                  <a:solidFill>
                    <a:schemeClr val="tx1"/>
                  </a:solidFill>
                </a:rPr>
                <a:t>optimization_knitted_results.RData</a:t>
              </a:r>
              <a:endParaRPr lang="en-US" sz="825" i="1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0E4928C-4439-453C-80EA-C9DF23CE25A7}"/>
                </a:ext>
              </a:extLst>
            </p:cNvPr>
            <p:cNvCxnSpPr>
              <a:cxnSpLocks/>
              <a:stCxn id="14" idx="2"/>
              <a:endCxn id="47" idx="0"/>
            </p:cNvCxnSpPr>
            <p:nvPr/>
          </p:nvCxnSpPr>
          <p:spPr>
            <a:xfrm>
              <a:off x="6096000" y="3967392"/>
              <a:ext cx="0" cy="4627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4DCF5F7-889C-4E79-9561-15AC33E945AE}"/>
                </a:ext>
              </a:extLst>
            </p:cNvPr>
            <p:cNvSpPr/>
            <p:nvPr/>
          </p:nvSpPr>
          <p:spPr>
            <a:xfrm>
              <a:off x="4565015" y="5239548"/>
              <a:ext cx="3061970" cy="1764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i="1" dirty="0">
                  <a:solidFill>
                    <a:schemeClr val="tx1"/>
                  </a:solidFill>
                </a:rPr>
                <a:t>Simulate Surveys and </a:t>
              </a:r>
              <a:r>
                <a:rPr lang="en-US" sz="1200" i="1" dirty="0" err="1">
                  <a:solidFill>
                    <a:schemeClr val="tx1"/>
                  </a:solidFill>
                </a:rPr>
                <a:t>Caluclate</a:t>
              </a:r>
              <a:r>
                <a:rPr lang="en-US" sz="1200" i="1" dirty="0">
                  <a:solidFill>
                    <a:schemeClr val="tx1"/>
                  </a:solidFill>
                </a:rPr>
                <a:t> Performance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3D11AFB-98B7-4E7B-870B-26E43DFBB948}"/>
                </a:ext>
              </a:extLst>
            </p:cNvPr>
            <p:cNvSpPr/>
            <p:nvPr/>
          </p:nvSpPr>
          <p:spPr>
            <a:xfrm>
              <a:off x="4565015" y="5399048"/>
              <a:ext cx="3061970" cy="17051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25" i="1" dirty="0" err="1">
                  <a:solidFill>
                    <a:schemeClr val="tx1"/>
                  </a:solidFill>
                </a:rPr>
                <a:t>Optimal_Allocation_GoA_Manuscript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  <a:r>
                <a:rPr lang="en-US" sz="825" i="1" dirty="0" err="1">
                  <a:solidFill>
                    <a:schemeClr val="tx1"/>
                  </a:solidFill>
                </a:rPr>
                <a:t>Survey_Optimization.R</a:t>
              </a:r>
              <a:endParaRPr lang="en-US" sz="825" i="1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BEB0441-48F7-4C34-865C-35D993A39FCD}"/>
                </a:ext>
              </a:extLst>
            </p:cNvPr>
            <p:cNvCxnSpPr>
              <a:cxnSpLocks/>
              <a:stCxn id="47" idx="2"/>
              <a:endCxn id="52" idx="0"/>
            </p:cNvCxnSpPr>
            <p:nvPr/>
          </p:nvCxnSpPr>
          <p:spPr>
            <a:xfrm>
              <a:off x="6096000" y="4776843"/>
              <a:ext cx="0" cy="4627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6E2DC12-7B05-48F6-84B5-B6C0FA3F9110}"/>
                </a:ext>
              </a:extLst>
            </p:cNvPr>
            <p:cNvSpPr/>
            <p:nvPr/>
          </p:nvSpPr>
          <p:spPr>
            <a:xfrm>
              <a:off x="4932680" y="6035377"/>
              <a:ext cx="2326640" cy="34674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25" i="1" dirty="0">
                  <a:solidFill>
                    <a:schemeClr val="tx1"/>
                  </a:solidFill>
                </a:rPr>
                <a:t>model_6g/</a:t>
              </a:r>
              <a:r>
                <a:rPr lang="en-US" sz="825" i="1" dirty="0" err="1">
                  <a:solidFill>
                    <a:schemeClr val="tx1"/>
                  </a:solidFill>
                </a:rPr>
                <a:t>Spatiotemporal_Optimization_OneCV</a:t>
              </a:r>
              <a:r>
                <a:rPr lang="en-US" sz="825" i="1" dirty="0">
                  <a:solidFill>
                    <a:schemeClr val="tx1"/>
                  </a:solidFill>
                </a:rPr>
                <a:t>/</a:t>
              </a:r>
              <a:r>
                <a:rPr lang="en-US" sz="825" i="1" dirty="0" err="1">
                  <a:solidFill>
                    <a:schemeClr val="tx1"/>
                  </a:solidFill>
                </a:rPr>
                <a:t>STRS_Sim_Res_spatiotemporal.RData</a:t>
              </a:r>
              <a:endParaRPr lang="en-US" sz="825" i="1" dirty="0">
                <a:solidFill>
                  <a:schemeClr val="tx1"/>
                </a:solidFill>
              </a:endParaRP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C4572FF0-9225-4A35-B6EF-2C555BE6B8D6}"/>
                </a:ext>
              </a:extLst>
            </p:cNvPr>
            <p:cNvCxnSpPr>
              <a:cxnSpLocks/>
              <a:stCxn id="53" idx="2"/>
              <a:endCxn id="66" idx="0"/>
            </p:cNvCxnSpPr>
            <p:nvPr/>
          </p:nvCxnSpPr>
          <p:spPr>
            <a:xfrm>
              <a:off x="6096000" y="5569558"/>
              <a:ext cx="0" cy="4658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3FA334C-1E7A-4792-A429-CAF78DCDA4B6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8547484" y="3160222"/>
              <a:ext cx="0" cy="2875155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9FA091A5-E294-43DD-842C-C383000D47F4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3451860" y="3188203"/>
              <a:ext cx="0" cy="284717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3492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AD2EB3-39A4-D242-AEB9-C48DB5BDB7A7}"/>
              </a:ext>
            </a:extLst>
          </p:cNvPr>
          <p:cNvSpPr/>
          <p:nvPr/>
        </p:nvSpPr>
        <p:spPr>
          <a:xfrm>
            <a:off x="5494558" y="545498"/>
            <a:ext cx="1328819" cy="3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i="1" dirty="0"/>
              <a:t>Average Spatial Distribution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1D38A5-F1EB-B74B-BC2D-98CA289E7C2C}"/>
              </a:ext>
            </a:extLst>
          </p:cNvPr>
          <p:cNvSpPr/>
          <p:nvPr/>
        </p:nvSpPr>
        <p:spPr>
          <a:xfrm>
            <a:off x="3807653" y="870021"/>
            <a:ext cx="965794" cy="32331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chemeClr val="tx1"/>
                </a:solidFill>
              </a:rPr>
              <a:t>VAST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2FC8CD-23D8-ED44-9545-D932542F560F}"/>
              </a:ext>
            </a:extLst>
          </p:cNvPr>
          <p:cNvSpPr/>
          <p:nvPr/>
        </p:nvSpPr>
        <p:spPr>
          <a:xfrm>
            <a:off x="5494558" y="881134"/>
            <a:ext cx="1328819" cy="30812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 err="1">
                <a:solidFill>
                  <a:schemeClr val="tx1"/>
                </a:solidFill>
              </a:rPr>
              <a:t>Average_Spatiotemporal_Distribution.R</a:t>
            </a:r>
            <a:endParaRPr lang="en-US" sz="825" i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BED359-DFCB-7645-A136-452C50C7898F}"/>
              </a:ext>
            </a:extLst>
          </p:cNvPr>
          <p:cNvSpPr/>
          <p:nvPr/>
        </p:nvSpPr>
        <p:spPr>
          <a:xfrm>
            <a:off x="5494557" y="69560"/>
            <a:ext cx="1328820" cy="30812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b="1" i="1" dirty="0">
                <a:solidFill>
                  <a:schemeClr val="tx1"/>
                </a:solidFill>
              </a:rPr>
              <a:t>GitHub/</a:t>
            </a:r>
            <a:r>
              <a:rPr lang="en-US" sz="825" b="1" i="1" dirty="0" err="1">
                <a:solidFill>
                  <a:schemeClr val="tx1"/>
                </a:solidFill>
              </a:rPr>
              <a:t>Optimal_Allocation_GoA</a:t>
            </a:r>
            <a:endParaRPr lang="en-US" sz="825" b="1" i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94D083-9A94-6D4B-8AA9-304ED3C974D8}"/>
              </a:ext>
            </a:extLst>
          </p:cNvPr>
          <p:cNvSpPr/>
          <p:nvPr/>
        </p:nvSpPr>
        <p:spPr>
          <a:xfrm>
            <a:off x="7152668" y="956675"/>
            <a:ext cx="1019783" cy="1717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Fig2_Mean_CV.png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4FC79B-0A8A-8347-8E36-B632EAC124F1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773446" y="1031679"/>
            <a:ext cx="721112" cy="3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C8EE1B-9590-B146-81B4-10C33EE2FF09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6823378" y="1035193"/>
            <a:ext cx="329291" cy="73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043AE32-5050-B14D-949E-92AA5EA82824}"/>
              </a:ext>
            </a:extLst>
          </p:cNvPr>
          <p:cNvSpPr/>
          <p:nvPr/>
        </p:nvSpPr>
        <p:spPr>
          <a:xfrm>
            <a:off x="5494558" y="1376363"/>
            <a:ext cx="1328819" cy="5358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i="1" dirty="0"/>
              <a:t>Spatial versus Spatiotemporal Optimization: N vs CV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154396-0A37-884C-9877-9484531F409A}"/>
              </a:ext>
            </a:extLst>
          </p:cNvPr>
          <p:cNvSpPr/>
          <p:nvPr/>
        </p:nvSpPr>
        <p:spPr>
          <a:xfrm>
            <a:off x="5494558" y="1912240"/>
            <a:ext cx="1328819" cy="1678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 err="1">
                <a:solidFill>
                  <a:schemeClr val="tx1"/>
                </a:solidFill>
              </a:rPr>
              <a:t>N_CV_Tradeoff.R</a:t>
            </a:r>
            <a:endParaRPr lang="en-US" sz="825" i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92D3CE-DEB0-B14F-92B5-EE2B016566F9}"/>
              </a:ext>
            </a:extLst>
          </p:cNvPr>
          <p:cNvSpPr/>
          <p:nvPr/>
        </p:nvSpPr>
        <p:spPr>
          <a:xfrm>
            <a:off x="7222835" y="1906129"/>
            <a:ext cx="1343025" cy="1678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Fig4_N_CV_Tradeoff.png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679C2B-C6D1-D54B-A9CE-2756597DFE7E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6823377" y="1990038"/>
            <a:ext cx="399458" cy="6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54AE72D-D99B-3542-B71B-AB85EA49FFD2}"/>
              </a:ext>
            </a:extLst>
          </p:cNvPr>
          <p:cNvSpPr/>
          <p:nvPr/>
        </p:nvSpPr>
        <p:spPr>
          <a:xfrm>
            <a:off x="3626141" y="1589960"/>
            <a:ext cx="1328819" cy="40390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 err="1">
                <a:solidFill>
                  <a:schemeClr val="tx1"/>
                </a:solidFill>
              </a:rPr>
              <a:t>Spatial_Optimization</a:t>
            </a:r>
            <a:r>
              <a:rPr lang="en-US" sz="825" i="1" dirty="0">
                <a:solidFill>
                  <a:schemeClr val="tx1"/>
                </a:solidFill>
              </a:rPr>
              <a:t>/</a:t>
            </a:r>
            <a:r>
              <a:rPr lang="en-US" sz="825" i="1" dirty="0" err="1">
                <a:solidFill>
                  <a:schemeClr val="tx1"/>
                </a:solidFill>
              </a:rPr>
              <a:t>spatial_only_optimization_results.RData</a:t>
            </a:r>
            <a:endParaRPr lang="en-US" sz="825" i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4882E0-E959-AE45-B221-62D7F31CAC55}"/>
              </a:ext>
            </a:extLst>
          </p:cNvPr>
          <p:cNvSpPr/>
          <p:nvPr/>
        </p:nvSpPr>
        <p:spPr>
          <a:xfrm>
            <a:off x="3626140" y="1999436"/>
            <a:ext cx="1328819" cy="55648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 err="1">
                <a:solidFill>
                  <a:schemeClr val="tx1"/>
                </a:solidFill>
              </a:rPr>
              <a:t>Spatiotemporal_Optimization</a:t>
            </a:r>
            <a:r>
              <a:rPr lang="en-US" sz="825" i="1" dirty="0">
                <a:solidFill>
                  <a:schemeClr val="tx1"/>
                </a:solidFill>
              </a:rPr>
              <a:t>/ </a:t>
            </a:r>
            <a:r>
              <a:rPr lang="en-US" sz="825" i="1" dirty="0" err="1">
                <a:solidFill>
                  <a:schemeClr val="tx1"/>
                </a:solidFill>
              </a:rPr>
              <a:t>spatiotemporal_optimization_results.RData</a:t>
            </a:r>
            <a:endParaRPr lang="en-US" sz="825" i="1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A297487-941B-5D44-AA45-21575D8A26CD}"/>
              </a:ext>
            </a:extLst>
          </p:cNvPr>
          <p:cNvCxnSpPr>
            <a:cxnSpLocks/>
            <a:stCxn id="23" idx="3"/>
            <a:endCxn id="10" idx="1"/>
          </p:cNvCxnSpPr>
          <p:nvPr/>
        </p:nvCxnSpPr>
        <p:spPr>
          <a:xfrm>
            <a:off x="4954960" y="1791913"/>
            <a:ext cx="539598" cy="2042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E31B3CC-8091-C849-8934-04957117A9A6}"/>
              </a:ext>
            </a:extLst>
          </p:cNvPr>
          <p:cNvCxnSpPr>
            <a:cxnSpLocks/>
            <a:stCxn id="24" idx="3"/>
            <a:endCxn id="10" idx="1"/>
          </p:cNvCxnSpPr>
          <p:nvPr/>
        </p:nvCxnSpPr>
        <p:spPr>
          <a:xfrm flipV="1">
            <a:off x="4954958" y="1996150"/>
            <a:ext cx="539600" cy="2815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DD25098-31CD-6F43-9821-906C39C3254F}"/>
              </a:ext>
            </a:extLst>
          </p:cNvPr>
          <p:cNvSpPr/>
          <p:nvPr/>
        </p:nvSpPr>
        <p:spPr>
          <a:xfrm>
            <a:off x="5504083" y="2856656"/>
            <a:ext cx="1328819" cy="5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i="1" dirty="0"/>
              <a:t>Spatial versus Spatiotemporal Optimization: True CV versus Expected CV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BCE2D1A-51AE-DF43-9454-3913DD27AA8E}"/>
              </a:ext>
            </a:extLst>
          </p:cNvPr>
          <p:cNvSpPr/>
          <p:nvPr/>
        </p:nvSpPr>
        <p:spPr>
          <a:xfrm>
            <a:off x="5504083" y="3450194"/>
            <a:ext cx="1328819" cy="1678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 err="1">
                <a:solidFill>
                  <a:schemeClr val="tx1"/>
                </a:solidFill>
              </a:rPr>
              <a:t>choke_spp.R</a:t>
            </a:r>
            <a:endParaRPr lang="en-US" sz="825" i="1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5846E-F444-1747-AA61-338B977CF204}"/>
              </a:ext>
            </a:extLst>
          </p:cNvPr>
          <p:cNvSpPr/>
          <p:nvPr/>
        </p:nvSpPr>
        <p:spPr>
          <a:xfrm>
            <a:off x="7404569" y="3446117"/>
            <a:ext cx="1142240" cy="2145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Fig5_choke_spp.png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80A946-FBBD-254B-9BED-073939FF97A3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6832902" y="3534103"/>
            <a:ext cx="571667" cy="192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891657C1-55AB-4C4A-A217-D9E2722121FD}"/>
              </a:ext>
            </a:extLst>
          </p:cNvPr>
          <p:cNvSpPr/>
          <p:nvPr/>
        </p:nvSpPr>
        <p:spPr>
          <a:xfrm>
            <a:off x="3645190" y="3986760"/>
            <a:ext cx="1327247" cy="32749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 err="1">
                <a:solidFill>
                  <a:schemeClr val="tx1"/>
                </a:solidFill>
              </a:rPr>
              <a:t>Spatial_Optimization</a:t>
            </a:r>
            <a:r>
              <a:rPr lang="en-US" sz="825" i="1" dirty="0">
                <a:solidFill>
                  <a:schemeClr val="tx1"/>
                </a:solidFill>
              </a:rPr>
              <a:t>/</a:t>
            </a:r>
            <a:r>
              <a:rPr lang="en-US" sz="825" i="1" dirty="0" err="1">
                <a:solidFill>
                  <a:schemeClr val="tx1"/>
                </a:solidFill>
              </a:rPr>
              <a:t>STRS_Sim_Res_Spatial.RData</a:t>
            </a:r>
            <a:endParaRPr lang="en-US" sz="825" i="1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FC1C54C-50A1-D649-B44C-8A966AEE6C93}"/>
              </a:ext>
            </a:extLst>
          </p:cNvPr>
          <p:cNvSpPr/>
          <p:nvPr/>
        </p:nvSpPr>
        <p:spPr>
          <a:xfrm>
            <a:off x="3645191" y="4358968"/>
            <a:ext cx="1328819" cy="54640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 err="1">
                <a:solidFill>
                  <a:schemeClr val="tx1"/>
                </a:solidFill>
              </a:rPr>
              <a:t>Spatiotemporal_Optimization</a:t>
            </a:r>
            <a:r>
              <a:rPr lang="en-US" sz="825" i="1" dirty="0">
                <a:solidFill>
                  <a:schemeClr val="tx1"/>
                </a:solidFill>
              </a:rPr>
              <a:t>/ </a:t>
            </a:r>
            <a:r>
              <a:rPr lang="en-US" sz="825" i="1" dirty="0" err="1">
                <a:solidFill>
                  <a:schemeClr val="tx1"/>
                </a:solidFill>
              </a:rPr>
              <a:t>STRS_Sim_Res_Spatiotemporal.RData</a:t>
            </a:r>
            <a:endParaRPr lang="en-US" sz="825" i="1" dirty="0">
              <a:solidFill>
                <a:schemeClr val="tx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A395B61-FB4A-044B-AEA8-B8479BA1ADF1}"/>
              </a:ext>
            </a:extLst>
          </p:cNvPr>
          <p:cNvCxnSpPr>
            <a:cxnSpLocks/>
            <a:stCxn id="46" idx="3"/>
            <a:endCxn id="43" idx="1"/>
          </p:cNvCxnSpPr>
          <p:nvPr/>
        </p:nvCxnSpPr>
        <p:spPr>
          <a:xfrm flipV="1">
            <a:off x="4972437" y="3534103"/>
            <a:ext cx="531645" cy="6164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B21CD24-397F-E640-94A0-83C2DFE28C7B}"/>
              </a:ext>
            </a:extLst>
          </p:cNvPr>
          <p:cNvCxnSpPr>
            <a:cxnSpLocks/>
            <a:stCxn id="47" idx="3"/>
            <a:endCxn id="43" idx="1"/>
          </p:cNvCxnSpPr>
          <p:nvPr/>
        </p:nvCxnSpPr>
        <p:spPr>
          <a:xfrm flipV="1">
            <a:off x="4974010" y="3534104"/>
            <a:ext cx="530072" cy="10980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5721B51-FB6F-F046-AEE8-A466950037B1}"/>
              </a:ext>
            </a:extLst>
          </p:cNvPr>
          <p:cNvSpPr/>
          <p:nvPr/>
        </p:nvSpPr>
        <p:spPr>
          <a:xfrm>
            <a:off x="7100889" y="55802"/>
            <a:ext cx="1489091" cy="439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b="1" i="1" dirty="0">
                <a:solidFill>
                  <a:schemeClr val="tx1"/>
                </a:solidFill>
              </a:rPr>
              <a:t>Google Drive/</a:t>
            </a:r>
            <a:r>
              <a:rPr lang="en-US" sz="825" b="1" i="1" dirty="0" err="1">
                <a:solidFill>
                  <a:schemeClr val="tx1"/>
                </a:solidFill>
              </a:rPr>
              <a:t>MS_Optimizations</a:t>
            </a:r>
            <a:r>
              <a:rPr lang="en-US" sz="825" b="1" i="1" dirty="0">
                <a:solidFill>
                  <a:schemeClr val="tx1"/>
                </a:solidFill>
              </a:rPr>
              <a:t>/</a:t>
            </a:r>
            <a:r>
              <a:rPr lang="en-US" sz="825" b="1" i="1" dirty="0" err="1">
                <a:solidFill>
                  <a:schemeClr val="tx1"/>
                </a:solidFill>
              </a:rPr>
              <a:t>figure_plot</a:t>
            </a:r>
            <a:r>
              <a:rPr lang="en-US" sz="825" b="1" i="1" dirty="0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B3D94CA-FE37-6446-9BD5-56B2BF8FF1F2}"/>
              </a:ext>
            </a:extLst>
          </p:cNvPr>
          <p:cNvSpPr/>
          <p:nvPr/>
        </p:nvSpPr>
        <p:spPr>
          <a:xfrm>
            <a:off x="3626141" y="82285"/>
            <a:ext cx="1328819" cy="3081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b="1" i="1" dirty="0">
                <a:solidFill>
                  <a:schemeClr val="tx1"/>
                </a:solidFill>
              </a:rPr>
              <a:t>GitHub/</a:t>
            </a:r>
            <a:r>
              <a:rPr lang="en-US" sz="825" b="1" i="1" dirty="0" err="1">
                <a:solidFill>
                  <a:schemeClr val="tx1"/>
                </a:solidFill>
              </a:rPr>
              <a:t>Optimal_Allocation_GoA</a:t>
            </a:r>
            <a:r>
              <a:rPr lang="en-US" sz="825" b="1" i="1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1C4D9C5-6853-B347-9BF7-6F665495FF80}"/>
              </a:ext>
            </a:extLst>
          </p:cNvPr>
          <p:cNvCxnSpPr>
            <a:cxnSpLocks/>
            <a:stCxn id="24" idx="3"/>
            <a:endCxn id="43" idx="1"/>
          </p:cNvCxnSpPr>
          <p:nvPr/>
        </p:nvCxnSpPr>
        <p:spPr>
          <a:xfrm>
            <a:off x="4954959" y="2277677"/>
            <a:ext cx="549124" cy="12564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691C78F-1174-CC4A-8799-3B0E4C80DDF6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>
            <a:off x="4954960" y="1791913"/>
            <a:ext cx="549122" cy="1742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ABFD64E8-5957-EE46-B748-5B06875AA66E}"/>
              </a:ext>
            </a:extLst>
          </p:cNvPr>
          <p:cNvSpPr/>
          <p:nvPr/>
        </p:nvSpPr>
        <p:spPr>
          <a:xfrm>
            <a:off x="5505655" y="4017461"/>
            <a:ext cx="1328819" cy="268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i="1" dirty="0"/>
              <a:t>True CV and RRMSE of CV by strata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3BB500F-C415-A44D-A0B8-3EAE84488110}"/>
              </a:ext>
            </a:extLst>
          </p:cNvPr>
          <p:cNvSpPr/>
          <p:nvPr/>
        </p:nvSpPr>
        <p:spPr>
          <a:xfrm>
            <a:off x="5505655" y="4302083"/>
            <a:ext cx="1327247" cy="19207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i="1" dirty="0" err="1">
                <a:solidFill>
                  <a:schemeClr val="tx1"/>
                </a:solidFill>
              </a:rPr>
              <a:t>True_RRMSE_CV_by_strata.R</a:t>
            </a:r>
            <a:endParaRPr lang="en-US" sz="750" i="1" dirty="0">
              <a:solidFill>
                <a:schemeClr val="tx1"/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FC8F71A-93B2-134E-9485-06CAF6D16965}"/>
              </a:ext>
            </a:extLst>
          </p:cNvPr>
          <p:cNvCxnSpPr>
            <a:cxnSpLocks/>
            <a:stCxn id="47" idx="3"/>
            <a:endCxn id="80" idx="1"/>
          </p:cNvCxnSpPr>
          <p:nvPr/>
        </p:nvCxnSpPr>
        <p:spPr>
          <a:xfrm flipV="1">
            <a:off x="4974010" y="4398122"/>
            <a:ext cx="531644" cy="2340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2168220-DC17-5543-8BD2-42538C96741F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4974010" y="4443949"/>
            <a:ext cx="455240" cy="1882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80BEEC4A-7100-3241-8254-AFB4DB72809A}"/>
              </a:ext>
            </a:extLst>
          </p:cNvPr>
          <p:cNvSpPr/>
          <p:nvPr/>
        </p:nvSpPr>
        <p:spPr>
          <a:xfrm>
            <a:off x="7404570" y="4302083"/>
            <a:ext cx="1029280" cy="1328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Fig6_True_CV.png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077FD1A-75B6-B544-9E65-60D334A4964F}"/>
              </a:ext>
            </a:extLst>
          </p:cNvPr>
          <p:cNvCxnSpPr>
            <a:cxnSpLocks/>
            <a:stCxn id="80" idx="3"/>
            <a:endCxn id="96" idx="1"/>
          </p:cNvCxnSpPr>
          <p:nvPr/>
        </p:nvCxnSpPr>
        <p:spPr>
          <a:xfrm flipV="1">
            <a:off x="6832901" y="4368493"/>
            <a:ext cx="571668" cy="296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D09EFEE-7DF6-E14A-9F2F-570CD2E96CCD}"/>
              </a:ext>
            </a:extLst>
          </p:cNvPr>
          <p:cNvSpPr/>
          <p:nvPr/>
        </p:nvSpPr>
        <p:spPr>
          <a:xfrm>
            <a:off x="5494558" y="5172478"/>
            <a:ext cx="1328819" cy="268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i="1" dirty="0"/>
              <a:t>Bias of Point Estimates and CV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8F6C7AF-441D-6D43-8D95-3997EF67E6D4}"/>
              </a:ext>
            </a:extLst>
          </p:cNvPr>
          <p:cNvSpPr/>
          <p:nvPr/>
        </p:nvSpPr>
        <p:spPr>
          <a:xfrm>
            <a:off x="5494558" y="5447575"/>
            <a:ext cx="1328819" cy="1678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 err="1">
                <a:solidFill>
                  <a:schemeClr val="tx1"/>
                </a:solidFill>
              </a:rPr>
              <a:t>Bias_Spatiotemporal.R</a:t>
            </a:r>
            <a:endParaRPr lang="en-US" sz="825" i="1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038E525-689E-3D42-B6A7-BD31731AB096}"/>
              </a:ext>
            </a:extLst>
          </p:cNvPr>
          <p:cNvSpPr/>
          <p:nvPr/>
        </p:nvSpPr>
        <p:spPr>
          <a:xfrm>
            <a:off x="7319286" y="5373955"/>
            <a:ext cx="920503" cy="1328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Fig7_Bias_Est.png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87D6264-1134-C84A-8B3C-DCADE9095261}"/>
              </a:ext>
            </a:extLst>
          </p:cNvPr>
          <p:cNvCxnSpPr>
            <a:cxnSpLocks/>
            <a:stCxn id="108" idx="3"/>
            <a:endCxn id="110" idx="1"/>
          </p:cNvCxnSpPr>
          <p:nvPr/>
        </p:nvCxnSpPr>
        <p:spPr>
          <a:xfrm flipV="1">
            <a:off x="6823377" y="5440365"/>
            <a:ext cx="495910" cy="911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039C25F-5BAA-874E-9ACB-090232D175BB}"/>
              </a:ext>
            </a:extLst>
          </p:cNvPr>
          <p:cNvCxnSpPr>
            <a:cxnSpLocks/>
            <a:stCxn id="47" idx="3"/>
            <a:endCxn id="108" idx="1"/>
          </p:cNvCxnSpPr>
          <p:nvPr/>
        </p:nvCxnSpPr>
        <p:spPr>
          <a:xfrm>
            <a:off x="4974010" y="4632172"/>
            <a:ext cx="520547" cy="8993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A27ED68-6484-B243-B4F7-8ED05D82FBAB}"/>
              </a:ext>
            </a:extLst>
          </p:cNvPr>
          <p:cNvSpPr/>
          <p:nvPr/>
        </p:nvSpPr>
        <p:spPr>
          <a:xfrm>
            <a:off x="7399591" y="4443949"/>
            <a:ext cx="1029281" cy="1368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Fig8_RRMSE_CV.png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0928EED-89C1-7646-B884-3CA5F0874288}"/>
              </a:ext>
            </a:extLst>
          </p:cNvPr>
          <p:cNvCxnSpPr>
            <a:cxnSpLocks/>
            <a:stCxn id="80" idx="3"/>
            <a:endCxn id="50" idx="1"/>
          </p:cNvCxnSpPr>
          <p:nvPr/>
        </p:nvCxnSpPr>
        <p:spPr>
          <a:xfrm>
            <a:off x="6832902" y="4398123"/>
            <a:ext cx="566690" cy="1142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18A78D2C-F3CA-BB4A-AE8C-22A26BEE9456}"/>
              </a:ext>
            </a:extLst>
          </p:cNvPr>
          <p:cNvSpPr/>
          <p:nvPr/>
        </p:nvSpPr>
        <p:spPr>
          <a:xfrm>
            <a:off x="3645191" y="4960367"/>
            <a:ext cx="1328819" cy="54640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Spatiotemporal_Optimization_Scheme2/ </a:t>
            </a:r>
            <a:r>
              <a:rPr lang="en-US" sz="825" i="1" dirty="0" err="1">
                <a:solidFill>
                  <a:schemeClr val="tx1"/>
                </a:solidFill>
              </a:rPr>
              <a:t>STRS_Sim_Res_Spatiotemporal_Flexible.RData</a:t>
            </a:r>
            <a:endParaRPr lang="en-US" sz="825" i="1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E499B13-8190-E141-98E6-17B35EFEDF9B}"/>
              </a:ext>
            </a:extLst>
          </p:cNvPr>
          <p:cNvCxnSpPr>
            <a:cxnSpLocks/>
            <a:stCxn id="61" idx="3"/>
            <a:endCxn id="80" idx="1"/>
          </p:cNvCxnSpPr>
          <p:nvPr/>
        </p:nvCxnSpPr>
        <p:spPr>
          <a:xfrm flipV="1">
            <a:off x="4974010" y="4398123"/>
            <a:ext cx="531644" cy="8354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C48C846-3FEF-C143-9B1E-21FF7C66AB51}"/>
              </a:ext>
            </a:extLst>
          </p:cNvPr>
          <p:cNvCxnSpPr>
            <a:cxnSpLocks/>
            <a:stCxn id="61" idx="3"/>
            <a:endCxn id="80" idx="1"/>
          </p:cNvCxnSpPr>
          <p:nvPr/>
        </p:nvCxnSpPr>
        <p:spPr>
          <a:xfrm flipV="1">
            <a:off x="4974010" y="4398123"/>
            <a:ext cx="531644" cy="8354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46DB550-9BAE-994E-9E7D-D61BF31865CF}"/>
              </a:ext>
            </a:extLst>
          </p:cNvPr>
          <p:cNvCxnSpPr>
            <a:cxnSpLocks/>
            <a:stCxn id="61" idx="3"/>
            <a:endCxn id="108" idx="1"/>
          </p:cNvCxnSpPr>
          <p:nvPr/>
        </p:nvCxnSpPr>
        <p:spPr>
          <a:xfrm>
            <a:off x="4974010" y="5233570"/>
            <a:ext cx="520547" cy="2979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5EA6354D-2635-2E47-BAC1-602074A9C6E4}"/>
              </a:ext>
            </a:extLst>
          </p:cNvPr>
          <p:cNvSpPr/>
          <p:nvPr/>
        </p:nvSpPr>
        <p:spPr>
          <a:xfrm>
            <a:off x="7319286" y="5520627"/>
            <a:ext cx="920502" cy="1678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Fig9_Bias_CV.png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BB95DD3-8C7F-C243-8A6B-D5982FC59E69}"/>
              </a:ext>
            </a:extLst>
          </p:cNvPr>
          <p:cNvCxnSpPr>
            <a:cxnSpLocks/>
            <a:stCxn id="108" idx="3"/>
            <a:endCxn id="72" idx="1"/>
          </p:cNvCxnSpPr>
          <p:nvPr/>
        </p:nvCxnSpPr>
        <p:spPr>
          <a:xfrm>
            <a:off x="6823377" y="5531485"/>
            <a:ext cx="495910" cy="730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C3C42BC2-1E30-4D5C-B74D-0210BCC12D1F}"/>
              </a:ext>
            </a:extLst>
          </p:cNvPr>
          <p:cNvSpPr/>
          <p:nvPr/>
        </p:nvSpPr>
        <p:spPr>
          <a:xfrm>
            <a:off x="5505655" y="5909179"/>
            <a:ext cx="1328819" cy="16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i="1" dirty="0"/>
              <a:t>Strata Maps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5F892FD-13C9-44B1-A241-11A8F5BE6E5C}"/>
              </a:ext>
            </a:extLst>
          </p:cNvPr>
          <p:cNvSpPr/>
          <p:nvPr/>
        </p:nvSpPr>
        <p:spPr>
          <a:xfrm>
            <a:off x="5505655" y="6086216"/>
            <a:ext cx="1328819" cy="1678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 err="1">
                <a:solidFill>
                  <a:schemeClr val="tx1"/>
                </a:solidFill>
              </a:rPr>
              <a:t>sol_by_boat.R</a:t>
            </a:r>
            <a:endParaRPr lang="en-US" sz="825" i="1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0EB417-A9CC-4731-A7BE-1EAB6F9FC415}"/>
              </a:ext>
            </a:extLst>
          </p:cNvPr>
          <p:cNvSpPr/>
          <p:nvPr/>
        </p:nvSpPr>
        <p:spPr>
          <a:xfrm>
            <a:off x="3645191" y="6291500"/>
            <a:ext cx="1328819" cy="2778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data/</a:t>
            </a:r>
            <a:r>
              <a:rPr lang="en-US" sz="825" i="1" dirty="0" err="1">
                <a:solidFill>
                  <a:schemeClr val="tx1"/>
                </a:solidFill>
              </a:rPr>
              <a:t>Extrapolation_depths.RData</a:t>
            </a:r>
            <a:endParaRPr lang="en-US" sz="825" i="1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B9D9CB2-AE97-4147-A0E7-E7B48A9669D9}"/>
              </a:ext>
            </a:extLst>
          </p:cNvPr>
          <p:cNvSpPr/>
          <p:nvPr/>
        </p:nvSpPr>
        <p:spPr>
          <a:xfrm>
            <a:off x="3524250" y="3226744"/>
            <a:ext cx="1518313" cy="2778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data/</a:t>
            </a:r>
            <a:r>
              <a:rPr lang="en-US" sz="825" i="1" dirty="0" err="1">
                <a:solidFill>
                  <a:schemeClr val="tx1"/>
                </a:solidFill>
              </a:rPr>
              <a:t>optimization_data.RData</a:t>
            </a:r>
            <a:endParaRPr lang="en-US" sz="825" i="1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FE8F04D-ED4B-468D-B59A-AEDDE3067491}"/>
              </a:ext>
            </a:extLst>
          </p:cNvPr>
          <p:cNvCxnSpPr>
            <a:cxnSpLocks/>
            <a:stCxn id="55" idx="3"/>
            <a:endCxn id="43" idx="1"/>
          </p:cNvCxnSpPr>
          <p:nvPr/>
        </p:nvCxnSpPr>
        <p:spPr>
          <a:xfrm>
            <a:off x="5042563" y="3365655"/>
            <a:ext cx="461519" cy="1684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0F927A8-E3F5-49DE-8FE4-2CB72D0DD304}"/>
              </a:ext>
            </a:extLst>
          </p:cNvPr>
          <p:cNvCxnSpPr>
            <a:cxnSpLocks/>
            <a:stCxn id="55" idx="3"/>
            <a:endCxn id="53" idx="1"/>
          </p:cNvCxnSpPr>
          <p:nvPr/>
        </p:nvCxnSpPr>
        <p:spPr>
          <a:xfrm>
            <a:off x="5042563" y="3365655"/>
            <a:ext cx="463092" cy="28044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DCFF38C-4118-4D75-8998-ABB3065A481D}"/>
              </a:ext>
            </a:extLst>
          </p:cNvPr>
          <p:cNvCxnSpPr>
            <a:cxnSpLocks/>
            <a:stCxn id="54" idx="3"/>
            <a:endCxn id="53" idx="1"/>
          </p:cNvCxnSpPr>
          <p:nvPr/>
        </p:nvCxnSpPr>
        <p:spPr>
          <a:xfrm flipV="1">
            <a:off x="4974010" y="6170125"/>
            <a:ext cx="531645" cy="260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AE774B6-C359-4F44-8E18-9E3F6FB58E25}"/>
              </a:ext>
            </a:extLst>
          </p:cNvPr>
          <p:cNvCxnSpPr>
            <a:cxnSpLocks/>
            <a:stCxn id="55" idx="3"/>
            <a:endCxn id="4" idx="1"/>
          </p:cNvCxnSpPr>
          <p:nvPr/>
        </p:nvCxnSpPr>
        <p:spPr>
          <a:xfrm flipV="1">
            <a:off x="5042563" y="1035194"/>
            <a:ext cx="451995" cy="23304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71828B2-C868-4011-9C7D-DBBE095C35B4}"/>
              </a:ext>
            </a:extLst>
          </p:cNvPr>
          <p:cNvCxnSpPr>
            <a:cxnSpLocks/>
            <a:stCxn id="54" idx="3"/>
            <a:endCxn id="80" idx="1"/>
          </p:cNvCxnSpPr>
          <p:nvPr/>
        </p:nvCxnSpPr>
        <p:spPr>
          <a:xfrm flipV="1">
            <a:off x="4974010" y="4398123"/>
            <a:ext cx="531644" cy="2032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23300CB-2F6F-4918-BA54-21E4B829A6BF}"/>
              </a:ext>
            </a:extLst>
          </p:cNvPr>
          <p:cNvCxnSpPr>
            <a:cxnSpLocks/>
            <a:stCxn id="54" idx="3"/>
            <a:endCxn id="108" idx="1"/>
          </p:cNvCxnSpPr>
          <p:nvPr/>
        </p:nvCxnSpPr>
        <p:spPr>
          <a:xfrm flipV="1">
            <a:off x="4974010" y="5531484"/>
            <a:ext cx="520547" cy="8989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6A4F731-33D6-44B9-8A40-95A53052D8E9}"/>
              </a:ext>
            </a:extLst>
          </p:cNvPr>
          <p:cNvSpPr/>
          <p:nvPr/>
        </p:nvSpPr>
        <p:spPr>
          <a:xfrm>
            <a:off x="7319286" y="6061758"/>
            <a:ext cx="1114563" cy="2145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i="1" dirty="0">
                <a:solidFill>
                  <a:schemeClr val="tx1"/>
                </a:solidFill>
              </a:rPr>
              <a:t>Fig3_sol_by_boat.png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28045D3-8162-45F6-A3BA-AB3EDC455CD3}"/>
              </a:ext>
            </a:extLst>
          </p:cNvPr>
          <p:cNvCxnSpPr>
            <a:cxnSpLocks/>
            <a:stCxn id="53" idx="3"/>
            <a:endCxn id="75" idx="1"/>
          </p:cNvCxnSpPr>
          <p:nvPr/>
        </p:nvCxnSpPr>
        <p:spPr>
          <a:xfrm flipV="1">
            <a:off x="6834474" y="6169009"/>
            <a:ext cx="484812" cy="11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370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397</Words>
  <Application>Microsoft Office PowerPoint</Application>
  <PresentationFormat>Widescreen</PresentationFormat>
  <Paragraphs>45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Zack Oyafuso</dc:creator>
  <cp:lastModifiedBy>Zack Oyafuso</cp:lastModifiedBy>
  <cp:revision>6</cp:revision>
  <dcterms:created xsi:type="dcterms:W3CDTF">2020-09-14T20:45:07Z</dcterms:created>
  <dcterms:modified xsi:type="dcterms:W3CDTF">2020-09-14T21:07:34Z</dcterms:modified>
</cp:coreProperties>
</file>